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Inter" panose="020B0604020202020204" charset="0"/>
      <p:regular r:id="rId15"/>
    </p:embeddedFont>
    <p:embeddedFont>
      <p:font typeface="JetBrains Mono" panose="020B0604020202020204" charset="0"/>
      <p:regular r:id="rId16"/>
    </p:embeddedFont>
    <p:embeddedFont>
      <p:font typeface="Space Grotesk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35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rule"/>
          <p:cNvSpPr/>
          <p:nvPr/>
        </p:nvSpPr>
        <p:spPr>
          <a:xfrm>
            <a:off x="762000" y="1219200"/>
            <a:ext cx="13716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brand-wordmark"/>
          <p:cNvSpPr/>
          <p:nvPr/>
        </p:nvSpPr>
        <p:spPr>
          <a:xfrm>
            <a:off x="762000" y="711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</a:t>
            </a:r>
            <a:endParaRPr lang="en-US" sz="1600" dirty="0"/>
          </a:p>
        </p:txBody>
      </p:sp>
      <p:sp>
        <p:nvSpPr>
          <p:cNvPr id="4" name="cover-title"/>
          <p:cNvSpPr/>
          <p:nvPr/>
        </p:nvSpPr>
        <p:spPr>
          <a:xfrm>
            <a:off x="762000" y="2616200"/>
            <a:ext cx="83820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16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a Local RAG.</a:t>
            </a:r>
            <a:endParaRPr lang="en-US" sz="5400" dirty="0"/>
          </a:p>
          <a:p>
            <a:pPr marL="0" indent="0" algn="l">
              <a:lnSpc>
                <a:spcPts val="5616"/>
              </a:lnSpc>
              <a:buNone/>
            </a:pPr>
            <a:r>
              <a:rPr lang="en-US" altLang="en-US" sz="5400" b="1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AI That</a:t>
            </a:r>
            <a:endParaRPr lang="en-US" sz="5400" dirty="0"/>
          </a:p>
          <a:p>
            <a:pPr marL="0" indent="0" algn="l">
              <a:lnSpc>
                <a:spcPts val="5616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Improves Work.</a:t>
            </a:r>
            <a:endParaRPr lang="en-US" sz="5400" dirty="0"/>
          </a:p>
        </p:txBody>
      </p:sp>
      <p:sp>
        <p:nvSpPr>
          <p:cNvPr id="5" name="cover-subtitle"/>
          <p:cNvSpPr/>
          <p:nvPr/>
        </p:nvSpPr>
        <p:spPr>
          <a:xfrm>
            <a:off x="762000" y="5524500"/>
            <a:ext cx="749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2"/>
              </a:lnSpc>
              <a:buNone/>
            </a:pPr>
            <a:r>
              <a:rPr lang="en-US" alt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2-hour practical workshop for mid-career professionals</a:t>
            </a:r>
            <a:endParaRPr lang="en-US" sz="2400" dirty="0"/>
          </a:p>
        </p:txBody>
      </p:sp>
      <p:sp>
        <p:nvSpPr>
          <p:cNvPr id="6" name="cover-divider"/>
          <p:cNvSpPr/>
          <p:nvPr/>
        </p:nvSpPr>
        <p:spPr>
          <a:xfrm>
            <a:off x="762000" y="7162800"/>
            <a:ext cx="58420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ver-descriptor"/>
          <p:cNvSpPr/>
          <p:nvPr/>
        </p:nvSpPr>
        <p:spPr>
          <a:xfrm>
            <a:off x="762000" y="7416800"/>
            <a:ext cx="736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Windows-first local RAG • Hugging Face • practical AI selection</a:t>
            </a:r>
            <a:endParaRPr lang="en-US" sz="1600" dirty="0"/>
          </a:p>
        </p:txBody>
      </p:sp>
      <p:sp>
        <p:nvSpPr>
          <p:cNvPr id="8" name="network-line-a"/>
          <p:cNvSpPr/>
          <p:nvPr/>
        </p:nvSpPr>
        <p:spPr>
          <a:xfrm flipV="1">
            <a:off x="10731500" y="2133600"/>
            <a:ext cx="1968500" cy="990600"/>
          </a:xfrm>
          <a:prstGeom prst="line">
            <a:avLst/>
          </a:prstGeom>
          <a:ln w="254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etwork-line-b"/>
          <p:cNvSpPr/>
          <p:nvPr/>
        </p:nvSpPr>
        <p:spPr>
          <a:xfrm>
            <a:off x="12700000" y="2133600"/>
            <a:ext cx="1651000" cy="1524000"/>
          </a:xfrm>
          <a:prstGeom prst="line">
            <a:avLst/>
          </a:prstGeom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etwork-line-c"/>
          <p:cNvSpPr/>
          <p:nvPr/>
        </p:nvSpPr>
        <p:spPr>
          <a:xfrm>
            <a:off x="10731500" y="3124200"/>
            <a:ext cx="1524000" cy="2311400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etwork-line-d"/>
          <p:cNvSpPr/>
          <p:nvPr/>
        </p:nvSpPr>
        <p:spPr>
          <a:xfrm flipV="1">
            <a:off x="12255500" y="3683000"/>
            <a:ext cx="2184400" cy="1752600"/>
          </a:xfrm>
          <a:prstGeom prst="line">
            <a:avLst/>
          </a:prstGeom>
          <a:ln w="254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etwork-line-e"/>
          <p:cNvSpPr/>
          <p:nvPr/>
        </p:nvSpPr>
        <p:spPr>
          <a:xfrm>
            <a:off x="12255500" y="5435600"/>
            <a:ext cx="1841500" cy="1422400"/>
          </a:xfrm>
          <a:prstGeom prst="line">
            <a:avLst/>
          </a:prstGeom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etwork-line-f"/>
          <p:cNvSpPr/>
          <p:nvPr/>
        </p:nvSpPr>
        <p:spPr>
          <a:xfrm flipV="1">
            <a:off x="14097000" y="5816600"/>
            <a:ext cx="1117600" cy="1041400"/>
          </a:xfrm>
          <a:prstGeom prst="line">
            <a:avLst/>
          </a:prstGeom>
          <a:ln w="254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ode-a"/>
          <p:cNvSpPr/>
          <p:nvPr/>
        </p:nvSpPr>
        <p:spPr>
          <a:xfrm>
            <a:off x="10502900" y="28956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ode-b"/>
          <p:cNvSpPr/>
          <p:nvPr/>
        </p:nvSpPr>
        <p:spPr>
          <a:xfrm>
            <a:off x="12446000" y="1879600"/>
            <a:ext cx="508000" cy="508000"/>
          </a:xfrm>
          <a:prstGeom prst="ellipse">
            <a:avLst/>
          </a:prstGeom>
          <a:solidFill>
            <a:srgbClr val="B38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node-c"/>
          <p:cNvSpPr/>
          <p:nvPr/>
        </p:nvSpPr>
        <p:spPr>
          <a:xfrm>
            <a:off x="14122400" y="34290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node-d"/>
          <p:cNvSpPr/>
          <p:nvPr/>
        </p:nvSpPr>
        <p:spPr>
          <a:xfrm>
            <a:off x="11976100" y="5156200"/>
            <a:ext cx="558800" cy="558800"/>
          </a:xfrm>
          <a:prstGeom prst="ellipse">
            <a:avLst/>
          </a:prstGeom>
          <a:solidFill>
            <a:srgbClr val="172033"/>
          </a:solidFill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ode-e"/>
          <p:cNvSpPr/>
          <p:nvPr/>
        </p:nvSpPr>
        <p:spPr>
          <a:xfrm>
            <a:off x="13843000" y="6604000"/>
            <a:ext cx="508000" cy="508000"/>
          </a:xfrm>
          <a:prstGeom prst="ellipse">
            <a:avLst/>
          </a:prstGeom>
          <a:solidFill>
            <a:srgbClr val="B38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node-f"/>
          <p:cNvSpPr/>
          <p:nvPr/>
        </p:nvSpPr>
        <p:spPr>
          <a:xfrm>
            <a:off x="14986000" y="5562600"/>
            <a:ext cx="355600" cy="3556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network-cpu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200" y="51943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20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Today’s Promise: Clarity, Not Hype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romise-panel"/>
          <p:cNvSpPr/>
          <p:nvPr/>
        </p:nvSpPr>
        <p:spPr>
          <a:xfrm>
            <a:off x="762000" y="1676400"/>
            <a:ext cx="14732000" cy="11811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ise-text"/>
          <p:cNvSpPr/>
          <p:nvPr/>
        </p:nvSpPr>
        <p:spPr>
          <a:xfrm>
            <a:off x="1117600" y="1955800"/>
            <a:ext cx="1397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earns its place when it improves a defined process outcome: </a:t>
            </a:r>
            <a:r>
              <a:rPr lang="en-US" alt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altLang="en-US" sz="24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r>
              <a:rPr lang="en-US" alt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outcome-card-1"/>
          <p:cNvSpPr/>
          <p:nvPr/>
        </p:nvSpPr>
        <p:spPr>
          <a:xfrm>
            <a:off x="762000" y="3302000"/>
            <a:ext cx="7112000" cy="18796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outcome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3657600"/>
            <a:ext cx="533400" cy="533400"/>
          </a:xfrm>
          <a:prstGeom prst="rect">
            <a:avLst/>
          </a:prstGeom>
        </p:spPr>
      </p:pic>
      <p:sp>
        <p:nvSpPr>
          <p:cNvPr id="8" name="outcome-text-1"/>
          <p:cNvSpPr/>
          <p:nvPr/>
        </p:nvSpPr>
        <p:spPr>
          <a:xfrm>
            <a:off x="1930400" y="3568700"/>
            <a:ext cx="54356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inspect local RAG</a:t>
            </a:r>
            <a:endParaRPr lang="en-US" sz="200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documents, retrieval, evidence, and answer.</a:t>
            </a:r>
            <a:endParaRPr lang="en-US" sz="2000" dirty="0"/>
          </a:p>
        </p:txBody>
      </p:sp>
      <p:sp>
        <p:nvSpPr>
          <p:cNvPr id="9" name="outcome-card-2"/>
          <p:cNvSpPr/>
          <p:nvPr/>
        </p:nvSpPr>
        <p:spPr>
          <a:xfrm>
            <a:off x="8382000" y="3302000"/>
            <a:ext cx="7112000" cy="18796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outcome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3657600"/>
            <a:ext cx="533400" cy="533400"/>
          </a:xfrm>
          <a:prstGeom prst="rect">
            <a:avLst/>
          </a:prstGeom>
        </p:spPr>
      </p:pic>
      <p:sp>
        <p:nvSpPr>
          <p:cNvPr id="11" name="outcome-text-2"/>
          <p:cNvSpPr/>
          <p:nvPr/>
        </p:nvSpPr>
        <p:spPr>
          <a:xfrm>
            <a:off x="9550400" y="3568700"/>
            <a:ext cx="54356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a model card critically</a:t>
            </a:r>
            <a:endParaRPr lang="en-US" sz="200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components by job, risk, and constraint.</a:t>
            </a:r>
            <a:endParaRPr lang="en-US" sz="2000" dirty="0"/>
          </a:p>
        </p:txBody>
      </p:sp>
      <p:sp>
        <p:nvSpPr>
          <p:cNvPr id="12" name="outcome-card-3"/>
          <p:cNvSpPr/>
          <p:nvPr/>
        </p:nvSpPr>
        <p:spPr>
          <a:xfrm>
            <a:off x="762000" y="5613400"/>
            <a:ext cx="7112000" cy="21336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outcome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5994400"/>
            <a:ext cx="533400" cy="533400"/>
          </a:xfrm>
          <a:prstGeom prst="rect">
            <a:avLst/>
          </a:prstGeom>
        </p:spPr>
      </p:pic>
      <p:sp>
        <p:nvSpPr>
          <p:cNvPr id="14" name="outcome-text-3"/>
          <p:cNvSpPr/>
          <p:nvPr/>
        </p:nvSpPr>
        <p:spPr>
          <a:xfrm>
            <a:off x="1930400" y="5892800"/>
            <a:ext cx="5435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local and Colab paths</a:t>
            </a:r>
            <a:endParaRPr lang="en-US" sz="200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what more capacity changes;  and what it does not.</a:t>
            </a:r>
            <a:endParaRPr lang="en-US" sz="2000" dirty="0"/>
          </a:p>
        </p:txBody>
      </p:sp>
      <p:sp>
        <p:nvSpPr>
          <p:cNvPr id="15" name="outcome-card-4"/>
          <p:cNvSpPr/>
          <p:nvPr/>
        </p:nvSpPr>
        <p:spPr>
          <a:xfrm>
            <a:off x="8382000" y="5613400"/>
            <a:ext cx="7112000" cy="21336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outcome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0" y="5994400"/>
            <a:ext cx="533400" cy="533400"/>
          </a:xfrm>
          <a:prstGeom prst="rect">
            <a:avLst/>
          </a:prstGeom>
        </p:spPr>
      </p:pic>
      <p:sp>
        <p:nvSpPr>
          <p:cNvPr id="17" name="outcome-text-4"/>
          <p:cNvSpPr/>
          <p:nvPr/>
        </p:nvSpPr>
        <p:spPr>
          <a:xfrm>
            <a:off x="9550400" y="5892800"/>
            <a:ext cx="5435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right AI job</a:t>
            </a:r>
            <a:endParaRPr lang="en-US" sz="200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technology to an observable business outcome.</a:t>
            </a:r>
            <a:endParaRPr lang="en-US" sz="2000" dirty="0"/>
          </a:p>
        </p:txBody>
      </p:sp>
      <p:sp>
        <p:nvSpPr>
          <p:cNvPr id="18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21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20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Adds Evidence at the Time a question is Asked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efinition"/>
          <p:cNvSpPr/>
          <p:nvPr/>
        </p:nvSpPr>
        <p:spPr>
          <a:xfrm>
            <a:off x="762000" y="1676400"/>
            <a:ext cx="140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finds relevant passages at question time and supplies them as evidence for the answer.</a:t>
            </a:r>
            <a:endParaRPr lang="en-US" sz="2200" dirty="0"/>
          </a:p>
        </p:txBody>
      </p:sp>
      <p:sp>
        <p:nvSpPr>
          <p:cNvPr id="5" name="node-1"/>
          <p:cNvSpPr/>
          <p:nvPr/>
        </p:nvSpPr>
        <p:spPr>
          <a:xfrm>
            <a:off x="762000" y="2997200"/>
            <a:ext cx="2032000" cy="19050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node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3225800"/>
            <a:ext cx="533400" cy="533400"/>
          </a:xfrm>
          <a:prstGeom prst="rect">
            <a:avLst/>
          </a:prstGeom>
        </p:spPr>
      </p:pic>
      <p:sp>
        <p:nvSpPr>
          <p:cNvPr id="7" name="node-text-1"/>
          <p:cNvSpPr/>
          <p:nvPr/>
        </p:nvSpPr>
        <p:spPr>
          <a:xfrm>
            <a:off x="952500" y="3962400"/>
            <a:ext cx="16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evidence</a:t>
            </a:r>
            <a:endParaRPr lang="en-US" sz="1800" dirty="0"/>
          </a:p>
        </p:txBody>
      </p:sp>
      <p:sp>
        <p:nvSpPr>
          <p:cNvPr id="8" name="arrow-1"/>
          <p:cNvSpPr/>
          <p:nvPr/>
        </p:nvSpPr>
        <p:spPr>
          <a:xfrm>
            <a:off x="2794000" y="3949700"/>
            <a:ext cx="406400" cy="9144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node-2"/>
          <p:cNvSpPr/>
          <p:nvPr/>
        </p:nvSpPr>
        <p:spPr>
          <a:xfrm>
            <a:off x="3200400" y="2997200"/>
            <a:ext cx="2032000" cy="1905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node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00" y="3225800"/>
            <a:ext cx="533400" cy="533400"/>
          </a:xfrm>
          <a:prstGeom prst="rect">
            <a:avLst/>
          </a:prstGeom>
        </p:spPr>
      </p:pic>
      <p:sp>
        <p:nvSpPr>
          <p:cNvPr id="11" name="node-text-2"/>
          <p:cNvSpPr/>
          <p:nvPr/>
        </p:nvSpPr>
        <p:spPr>
          <a:xfrm>
            <a:off x="3390900" y="3962400"/>
            <a:ext cx="16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Chunks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passages</a:t>
            </a:r>
            <a:endParaRPr lang="en-US" sz="1800" dirty="0"/>
          </a:p>
        </p:txBody>
      </p:sp>
      <p:sp>
        <p:nvSpPr>
          <p:cNvPr id="12" name="arrow-2"/>
          <p:cNvSpPr/>
          <p:nvPr/>
        </p:nvSpPr>
        <p:spPr>
          <a:xfrm>
            <a:off x="5232400" y="3949700"/>
            <a:ext cx="406400" cy="9144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node-3"/>
          <p:cNvSpPr/>
          <p:nvPr/>
        </p:nvSpPr>
        <p:spPr>
          <a:xfrm>
            <a:off x="5638800" y="2997200"/>
            <a:ext cx="2032000" cy="1905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node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0" y="3225800"/>
            <a:ext cx="533400" cy="533400"/>
          </a:xfrm>
          <a:prstGeom prst="rect">
            <a:avLst/>
          </a:prstGeom>
        </p:spPr>
      </p:pic>
      <p:sp>
        <p:nvSpPr>
          <p:cNvPr id="15" name="node-text-3"/>
          <p:cNvSpPr/>
          <p:nvPr/>
        </p:nvSpPr>
        <p:spPr>
          <a:xfrm>
            <a:off x="5829300" y="3962400"/>
            <a:ext cx="16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vectors</a:t>
            </a:r>
            <a:endParaRPr lang="en-US" sz="1800" dirty="0"/>
          </a:p>
        </p:txBody>
      </p:sp>
      <p:sp>
        <p:nvSpPr>
          <p:cNvPr id="16" name="arrow-3"/>
          <p:cNvSpPr/>
          <p:nvPr/>
        </p:nvSpPr>
        <p:spPr>
          <a:xfrm>
            <a:off x="7670800" y="3949700"/>
            <a:ext cx="406400" cy="9144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node-4"/>
          <p:cNvSpPr/>
          <p:nvPr/>
        </p:nvSpPr>
        <p:spPr>
          <a:xfrm>
            <a:off x="8077200" y="2997200"/>
            <a:ext cx="2032000" cy="19050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node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0" y="3225800"/>
            <a:ext cx="533400" cy="533400"/>
          </a:xfrm>
          <a:prstGeom prst="rect">
            <a:avLst/>
          </a:prstGeom>
        </p:spPr>
      </p:pic>
      <p:sp>
        <p:nvSpPr>
          <p:cNvPr id="19" name="node-text-4"/>
          <p:cNvSpPr/>
          <p:nvPr/>
        </p:nvSpPr>
        <p:spPr>
          <a:xfrm>
            <a:off x="8267700" y="3962400"/>
            <a:ext cx="16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evidence</a:t>
            </a:r>
            <a:endParaRPr lang="en-US" sz="1800" dirty="0"/>
          </a:p>
        </p:txBody>
      </p:sp>
      <p:sp>
        <p:nvSpPr>
          <p:cNvPr id="20" name="arrow-4"/>
          <p:cNvSpPr/>
          <p:nvPr/>
        </p:nvSpPr>
        <p:spPr>
          <a:xfrm>
            <a:off x="10109200" y="3949700"/>
            <a:ext cx="406400" cy="9144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node-5"/>
          <p:cNvSpPr/>
          <p:nvPr/>
        </p:nvSpPr>
        <p:spPr>
          <a:xfrm>
            <a:off x="10515600" y="2997200"/>
            <a:ext cx="2032000" cy="1905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node-icon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000" y="3225800"/>
            <a:ext cx="533400" cy="533400"/>
          </a:xfrm>
          <a:prstGeom prst="rect">
            <a:avLst/>
          </a:prstGeom>
        </p:spPr>
      </p:pic>
      <p:sp>
        <p:nvSpPr>
          <p:cNvPr id="23" name="node-text-5"/>
          <p:cNvSpPr/>
          <p:nvPr/>
        </p:nvSpPr>
        <p:spPr>
          <a:xfrm>
            <a:off x="10706100" y="3962400"/>
            <a:ext cx="16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+ sources</a:t>
            </a:r>
            <a:endParaRPr lang="en-US" sz="1800" dirty="0"/>
          </a:p>
        </p:txBody>
      </p:sp>
      <p:sp>
        <p:nvSpPr>
          <p:cNvPr id="24" name="arrow-5"/>
          <p:cNvSpPr/>
          <p:nvPr/>
        </p:nvSpPr>
        <p:spPr>
          <a:xfrm>
            <a:off x="12547600" y="3949700"/>
            <a:ext cx="406400" cy="9144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node-6"/>
          <p:cNvSpPr/>
          <p:nvPr/>
        </p:nvSpPr>
        <p:spPr>
          <a:xfrm>
            <a:off x="12954000" y="2997200"/>
            <a:ext cx="2540000" cy="19050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node-icon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57300" y="3225800"/>
            <a:ext cx="533400" cy="533400"/>
          </a:xfrm>
          <a:prstGeom prst="rect">
            <a:avLst/>
          </a:prstGeom>
        </p:spPr>
      </p:pic>
      <p:sp>
        <p:nvSpPr>
          <p:cNvPr id="27" name="node-text-6"/>
          <p:cNvSpPr/>
          <p:nvPr/>
        </p:nvSpPr>
        <p:spPr>
          <a:xfrm>
            <a:off x="13144500" y="3962400"/>
            <a:ext cx="215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answer</a:t>
            </a:r>
            <a:endParaRPr lang="en-US" sz="18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source labels</a:t>
            </a:r>
            <a:endParaRPr lang="en-US" sz="1800" dirty="0"/>
          </a:p>
        </p:txBody>
      </p:sp>
      <p:sp>
        <p:nvSpPr>
          <p:cNvPr id="28" name="insight-panel"/>
          <p:cNvSpPr/>
          <p:nvPr/>
        </p:nvSpPr>
        <p:spPr>
          <a:xfrm>
            <a:off x="1981200" y="6032500"/>
            <a:ext cx="12293600" cy="14605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nsight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3000" y="6426200"/>
            <a:ext cx="533400" cy="533400"/>
          </a:xfrm>
          <a:prstGeom prst="rect">
            <a:avLst/>
          </a:prstGeom>
        </p:spPr>
      </p:pic>
      <p:sp>
        <p:nvSpPr>
          <p:cNvPr id="30" name="insight-text"/>
          <p:cNvSpPr/>
          <p:nvPr/>
        </p:nvSpPr>
        <p:spPr>
          <a:xfrm>
            <a:off x="3276600" y="6350000"/>
            <a:ext cx="1041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</a:t>
            </a:r>
            <a:r>
              <a:rPr lang="en-US" altLang="en-US" sz="23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train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on your documents. It retrieves working context; and makes the evidence inspectable.</a:t>
            </a:r>
            <a:endParaRPr lang="en-US" sz="2300" dirty="0"/>
          </a:p>
        </p:txBody>
      </p:sp>
      <p:sp>
        <p:nvSpPr>
          <p:cNvPr id="31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34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20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Local Component Has One Job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aming-text"/>
          <p:cNvSpPr/>
          <p:nvPr/>
        </p:nvSpPr>
        <p:spPr>
          <a:xfrm>
            <a:off x="762000" y="1638300"/>
            <a:ext cx="138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simplest architecture is easier to explain, test, govern, and improve.</a:t>
            </a:r>
            <a:endParaRPr lang="en-US" sz="1900" dirty="0"/>
          </a:p>
        </p:txBody>
      </p:sp>
      <p:graphicFrame>
        <p:nvGraphicFramePr>
          <p:cNvPr id="5" name="componen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120708"/>
              </p:ext>
            </p:extLst>
          </p:nvPr>
        </p:nvGraphicFramePr>
        <p:xfrm>
          <a:off x="762000" y="2311400"/>
          <a:ext cx="14732000" cy="5435600"/>
        </p:xfrm>
        <a:graphic>
          <a:graphicData uri="http://schemas.openxmlformats.org/drawingml/2006/table">
            <a:tbl>
              <a:tblPr/>
              <a:tblGrid>
                <a:gridCol w="245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7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JOB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WORKSHOP CHOICE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IT HELPS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runtime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Hosts the generator on the laptop.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Ollama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Runs the model locally through a local service;  no cloud API key is used.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 LLM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Writes an answer from supplied evidence.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llama3.2:3b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Prioritises a plausible constrained-laptop learning experience over maximal capability.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Embedding 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Turns text into semantic vectors.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all-MiniLM-L6-v2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compact specialist for meaning-based retrieval;  it is not the answering model.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Similarity search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Ranks passages relevant to a question.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NumPy cosine similarity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Transparent, adequate for a small teaching corpus, and avoids extra Windows complexity.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Documents + reader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Provide the factual evidence and extract text.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files + pypdf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RAG quality depends on approved, current, relevant documents; not model fluency.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90500" marR="1905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9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71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Is a Boundary; Not a Security Guarantee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eft-kicker"/>
          <p:cNvSpPr/>
          <p:nvPr/>
        </p:nvSpPr>
        <p:spPr>
          <a:xfrm>
            <a:off x="762000" y="18415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“LOCAL” MEANS IN THIS WORKSHOP</a:t>
            </a:r>
            <a:endParaRPr lang="en-US" sz="1600" dirty="0"/>
          </a:p>
        </p:txBody>
      </p:sp>
      <p:sp>
        <p:nvSpPr>
          <p:cNvPr id="5" name="left-points"/>
          <p:cNvSpPr/>
          <p:nvPr/>
        </p:nvSpPr>
        <p:spPr>
          <a:xfrm>
            <a:off x="762000" y="2362200"/>
            <a:ext cx="6858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setup is online.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Installers, Python packages, and models must be downloaded first.</a:t>
            </a:r>
            <a:endParaRPr lang="en-US" sz="2100" dirty="0"/>
          </a:p>
          <a:p>
            <a:pPr marL="0" indent="0" algn="l">
              <a:lnSpc>
                <a:spcPts val="2835"/>
              </a:lnSpc>
              <a:spcBef>
                <a:spcPts val="1800"/>
              </a:spcBef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 can be offline.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Documents, embeddings, retrieval, and generation stay on the your laptop.</a:t>
            </a:r>
            <a:endParaRPr lang="en-US" sz="2100" dirty="0"/>
          </a:p>
          <a:p>
            <a:pPr marL="0" indent="0" algn="l">
              <a:lnSpc>
                <a:spcPts val="2835"/>
              </a:lnSpc>
              <a:spcBef>
                <a:spcPts val="1800"/>
              </a:spcBef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is not enough by itself.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Security also depends on trust, permissions, licences, device controls, and evaluation.</a:t>
            </a:r>
            <a:endParaRPr lang="en-US" sz="2100" dirty="0"/>
          </a:p>
        </p:txBody>
      </p:sp>
      <p:sp>
        <p:nvSpPr>
          <p:cNvPr id="6" name="caution-panel"/>
          <p:cNvSpPr/>
          <p:nvPr/>
        </p:nvSpPr>
        <p:spPr>
          <a:xfrm>
            <a:off x="762000" y="5689600"/>
            <a:ext cx="6858000" cy="9144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ution-text"/>
          <p:cNvSpPr/>
          <p:nvPr/>
        </p:nvSpPr>
        <p:spPr>
          <a:xfrm>
            <a:off x="1066800" y="5918200"/>
            <a:ext cx="6248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describe any solution as “100% secure.”</a:t>
            </a:r>
            <a:endParaRPr lang="en-US" sz="2000" dirty="0"/>
          </a:p>
        </p:txBody>
      </p:sp>
      <p:sp>
        <p:nvSpPr>
          <p:cNvPr id="8" name="online-zone"/>
          <p:cNvSpPr/>
          <p:nvPr/>
        </p:nvSpPr>
        <p:spPr>
          <a:xfrm>
            <a:off x="8636000" y="1905000"/>
            <a:ext cx="6858000" cy="18415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cloud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200" y="2451100"/>
            <a:ext cx="660400" cy="660400"/>
          </a:xfrm>
          <a:prstGeom prst="rect">
            <a:avLst/>
          </a:prstGeom>
        </p:spPr>
      </p:pic>
      <p:sp>
        <p:nvSpPr>
          <p:cNvPr id="10" name="online-label"/>
          <p:cNvSpPr/>
          <p:nvPr/>
        </p:nvSpPr>
        <p:spPr>
          <a:xfrm>
            <a:off x="10083800" y="2260600"/>
            <a:ext cx="47625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ONLINE PREPARATION</a:t>
            </a:r>
            <a:endParaRPr lang="en-US" sz="20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installer + approved model + embedding cache</a:t>
            </a:r>
            <a:endParaRPr lang="en-US" sz="2000" dirty="0"/>
          </a:p>
        </p:txBody>
      </p:sp>
      <p:sp>
        <p:nvSpPr>
          <p:cNvPr id="11" name="handoff-arrow"/>
          <p:cNvSpPr/>
          <p:nvPr/>
        </p:nvSpPr>
        <p:spPr>
          <a:xfrm>
            <a:off x="12065000" y="3746500"/>
            <a:ext cx="9144" cy="863600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offline-zone"/>
          <p:cNvSpPr/>
          <p:nvPr/>
        </p:nvSpPr>
        <p:spPr>
          <a:xfrm>
            <a:off x="8636000" y="4635500"/>
            <a:ext cx="6858000" cy="18415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laptop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5181600"/>
            <a:ext cx="660400" cy="660400"/>
          </a:xfrm>
          <a:prstGeom prst="rect">
            <a:avLst/>
          </a:prstGeom>
        </p:spPr>
      </p:pic>
      <p:sp>
        <p:nvSpPr>
          <p:cNvPr id="14" name="offline-label"/>
          <p:cNvSpPr/>
          <p:nvPr/>
        </p:nvSpPr>
        <p:spPr>
          <a:xfrm>
            <a:off x="10083800" y="4991100"/>
            <a:ext cx="4762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LOCAL OPERATION</a:t>
            </a:r>
            <a:endParaRPr lang="en-US" sz="20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files + local retrieval + local generation</a:t>
            </a:r>
            <a:endParaRPr lang="en-US" sz="2000" dirty="0"/>
          </a:p>
        </p:txBody>
      </p:sp>
      <p:sp>
        <p:nvSpPr>
          <p:cNvPr id="15" name="trust-strip"/>
          <p:cNvSpPr/>
          <p:nvPr/>
        </p:nvSpPr>
        <p:spPr>
          <a:xfrm>
            <a:off x="762000" y="6985000"/>
            <a:ext cx="14732000" cy="889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trus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7200900"/>
            <a:ext cx="431800" cy="431800"/>
          </a:xfrm>
          <a:prstGeom prst="rect">
            <a:avLst/>
          </a:prstGeom>
        </p:spPr>
      </p:pic>
      <p:sp>
        <p:nvSpPr>
          <p:cNvPr id="17" name="trust-text"/>
          <p:cNvSpPr/>
          <p:nvPr/>
        </p:nvSpPr>
        <p:spPr>
          <a:xfrm>
            <a:off x="1803400" y="7213600"/>
            <a:ext cx="13182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the source • review the licence • protect the device • control data access • test behaviour</a:t>
            </a:r>
            <a:endParaRPr lang="en-US" sz="1800" dirty="0"/>
          </a:p>
        </p:txBody>
      </p:sp>
      <p:sp>
        <p:nvSpPr>
          <p:cNvPr id="19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22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Components by Job and Constraint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p-kicker"/>
          <p:cNvSpPr/>
          <p:nvPr/>
        </p:nvSpPr>
        <p:spPr>
          <a:xfrm>
            <a:off x="762000" y="17272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MODEL CARD; NOT THE HYPE</a:t>
            </a:r>
            <a:endParaRPr lang="en-US" sz="1600" dirty="0"/>
          </a:p>
        </p:txBody>
      </p:sp>
      <p:sp>
        <p:nvSpPr>
          <p:cNvPr id="5" name="check-1"/>
          <p:cNvSpPr/>
          <p:nvPr/>
        </p:nvSpPr>
        <p:spPr>
          <a:xfrm>
            <a:off x="762000" y="2209800"/>
            <a:ext cx="2641600" cy="711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eck-text-1"/>
          <p:cNvSpPr/>
          <p:nvPr/>
        </p:nvSpPr>
        <p:spPr>
          <a:xfrm>
            <a:off x="914400" y="2413000"/>
            <a:ext cx="2336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&amp; language</a:t>
            </a:r>
            <a:endParaRPr lang="en-US" sz="1500" dirty="0"/>
          </a:p>
        </p:txBody>
      </p:sp>
      <p:sp>
        <p:nvSpPr>
          <p:cNvPr id="7" name="check-2"/>
          <p:cNvSpPr/>
          <p:nvPr/>
        </p:nvSpPr>
        <p:spPr>
          <a:xfrm>
            <a:off x="3632200" y="2209800"/>
            <a:ext cx="2641600" cy="711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heck-text-2"/>
          <p:cNvSpPr/>
          <p:nvPr/>
        </p:nvSpPr>
        <p:spPr>
          <a:xfrm>
            <a:off x="3784600" y="2413000"/>
            <a:ext cx="2336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 &amp; licence</a:t>
            </a:r>
            <a:endParaRPr lang="en-US" sz="1500" dirty="0"/>
          </a:p>
        </p:txBody>
      </p:sp>
      <p:sp>
        <p:nvSpPr>
          <p:cNvPr id="9" name="check-3"/>
          <p:cNvSpPr/>
          <p:nvPr/>
        </p:nvSpPr>
        <p:spPr>
          <a:xfrm>
            <a:off x="6502400" y="2209800"/>
            <a:ext cx="2641600" cy="711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eck-text-3"/>
          <p:cNvSpPr/>
          <p:nvPr/>
        </p:nvSpPr>
        <p:spPr>
          <a:xfrm>
            <a:off x="6654800" y="2413000"/>
            <a:ext cx="2336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&amp; runtime fit</a:t>
            </a:r>
            <a:endParaRPr lang="en-US" sz="1500" dirty="0"/>
          </a:p>
        </p:txBody>
      </p:sp>
      <p:sp>
        <p:nvSpPr>
          <p:cNvPr id="11" name="check-4"/>
          <p:cNvSpPr/>
          <p:nvPr/>
        </p:nvSpPr>
        <p:spPr>
          <a:xfrm>
            <a:off x="9372600" y="2209800"/>
            <a:ext cx="2641600" cy="711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heck-text-4"/>
          <p:cNvSpPr/>
          <p:nvPr/>
        </p:nvSpPr>
        <p:spPr>
          <a:xfrm>
            <a:off x="9525000" y="2413000"/>
            <a:ext cx="2336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&amp; evaluation</a:t>
            </a:r>
            <a:endParaRPr lang="en-US" sz="1500" dirty="0"/>
          </a:p>
        </p:txBody>
      </p:sp>
      <p:sp>
        <p:nvSpPr>
          <p:cNvPr id="13" name="check-5"/>
          <p:cNvSpPr/>
          <p:nvPr/>
        </p:nvSpPr>
        <p:spPr>
          <a:xfrm>
            <a:off x="12242800" y="2209800"/>
            <a:ext cx="3251200" cy="7112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heck-text-5"/>
          <p:cNvSpPr/>
          <p:nvPr/>
        </p:nvSpPr>
        <p:spPr>
          <a:xfrm>
            <a:off x="12395200" y="2413000"/>
            <a:ext cx="294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representative test set</a:t>
            </a:r>
            <a:endParaRPr lang="en-US" sz="1500" dirty="0"/>
          </a:p>
        </p:txBody>
      </p:sp>
      <p:sp>
        <p:nvSpPr>
          <p:cNvPr id="15" name="local-card"/>
          <p:cNvSpPr/>
          <p:nvPr/>
        </p:nvSpPr>
        <p:spPr>
          <a:xfrm>
            <a:off x="762000" y="3556000"/>
            <a:ext cx="7048500" cy="3937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ocal-card-rule"/>
          <p:cNvSpPr/>
          <p:nvPr/>
        </p:nvSpPr>
        <p:spPr>
          <a:xfrm>
            <a:off x="762000" y="3556000"/>
            <a:ext cx="7048500" cy="6350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loca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962400"/>
            <a:ext cx="482600" cy="482600"/>
          </a:xfrm>
          <a:prstGeom prst="rect">
            <a:avLst/>
          </a:prstGeom>
        </p:spPr>
      </p:pic>
      <p:sp>
        <p:nvSpPr>
          <p:cNvPr id="18" name="local-card-title"/>
          <p:cNvSpPr/>
          <p:nvPr/>
        </p:nvSpPr>
        <p:spPr>
          <a:xfrm>
            <a:off x="1879600" y="400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GB Windows laptop</a:t>
            </a:r>
            <a:endParaRPr lang="en-US" sz="2200" dirty="0"/>
          </a:p>
        </p:txBody>
      </p:sp>
      <p:sp>
        <p:nvSpPr>
          <p:cNvPr id="19" name="local-card-text"/>
          <p:cNvSpPr/>
          <p:nvPr/>
        </p:nvSpPr>
        <p:spPr>
          <a:xfrm>
            <a:off x="1143000" y="4749800"/>
            <a:ext cx="6223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compact local 3B instruct model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MiniLM embedding specialist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small model / quantized format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 document folder</a:t>
            </a:r>
            <a:endParaRPr lang="en-US" sz="1800" dirty="0"/>
          </a:p>
        </p:txBody>
      </p:sp>
      <p:sp>
        <p:nvSpPr>
          <p:cNvPr id="20" name="local-card-foot"/>
          <p:cNvSpPr/>
          <p:nvPr/>
        </p:nvSpPr>
        <p:spPr>
          <a:xfrm>
            <a:off x="1143000" y="69596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 fit, transparency, and repeatability.</a:t>
            </a:r>
            <a:endParaRPr lang="en-US" sz="1600" dirty="0"/>
          </a:p>
        </p:txBody>
      </p:sp>
      <p:sp>
        <p:nvSpPr>
          <p:cNvPr id="21" name="colab-card"/>
          <p:cNvSpPr/>
          <p:nvPr/>
        </p:nvSpPr>
        <p:spPr>
          <a:xfrm>
            <a:off x="8445500" y="3556000"/>
            <a:ext cx="7048500" cy="3937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lab-card-rule"/>
          <p:cNvSpPr/>
          <p:nvPr/>
        </p:nvSpPr>
        <p:spPr>
          <a:xfrm>
            <a:off x="8445500" y="3556000"/>
            <a:ext cx="7048500" cy="63500"/>
          </a:xfrm>
          <a:prstGeom prst="rect">
            <a:avLst/>
          </a:prstGeom>
          <a:solidFill>
            <a:srgbClr val="B38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colab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0" y="3962400"/>
            <a:ext cx="482600" cy="482600"/>
          </a:xfrm>
          <a:prstGeom prst="rect">
            <a:avLst/>
          </a:prstGeom>
        </p:spPr>
      </p:pic>
      <p:sp>
        <p:nvSpPr>
          <p:cNvPr id="24" name="colab-card-title"/>
          <p:cNvSpPr/>
          <p:nvPr/>
        </p:nvSpPr>
        <p:spPr>
          <a:xfrm>
            <a:off x="9563100" y="400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GPU-enabled Google Colab</a:t>
            </a:r>
            <a:endParaRPr lang="en-US" sz="2200" dirty="0"/>
          </a:p>
        </p:txBody>
      </p:sp>
      <p:sp>
        <p:nvSpPr>
          <p:cNvPr id="25" name="colab-card-text"/>
          <p:cNvSpPr/>
          <p:nvPr/>
        </p:nvSpPr>
        <p:spPr>
          <a:xfrm>
            <a:off x="8826500" y="4749800"/>
            <a:ext cx="6223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Qwen2.5 7B Instruct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same MiniLM specialist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4-bit NF4 on CUDA GPU</a:t>
            </a:r>
            <a:endParaRPr lang="en-US" sz="1800" dirty="0"/>
          </a:p>
          <a:p>
            <a:pPr marL="0" indent="0" algn="l">
              <a:lnSpc>
                <a:spcPts val="2430"/>
              </a:lnSpc>
              <a:buNone/>
            </a:pPr>
            <a:r>
              <a:rPr lang="en-US" altLang="en-US" sz="18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temporary cloud runtime</a:t>
            </a:r>
            <a:endParaRPr lang="en-US" sz="1800" dirty="0"/>
          </a:p>
        </p:txBody>
      </p:sp>
      <p:sp>
        <p:nvSpPr>
          <p:cNvPr id="26" name="colab-card-foot"/>
          <p:cNvSpPr/>
          <p:nvPr/>
        </p:nvSpPr>
        <p:spPr>
          <a:xfrm>
            <a:off x="8826500" y="6959600"/>
            <a:ext cx="6223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capacity;  a different data boundary.</a:t>
            </a:r>
            <a:endParaRPr lang="en-US" sz="1600" dirty="0"/>
          </a:p>
        </p:txBody>
      </p:sp>
      <p:sp>
        <p:nvSpPr>
          <p:cNvPr id="28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31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20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Run, Inspect, Then Trust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ntro"/>
          <p:cNvSpPr/>
          <p:nvPr/>
        </p:nvSpPr>
        <p:spPr>
          <a:xfrm>
            <a:off x="762000" y="1651000"/>
            <a:ext cx="1295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lab is not a “click and admire” exercise. The evidence is part of the result.</a:t>
            </a:r>
            <a:endParaRPr lang="en-US" sz="1800" dirty="0"/>
          </a:p>
        </p:txBody>
      </p:sp>
      <p:sp>
        <p:nvSpPr>
          <p:cNvPr id="5" name="terminal-card"/>
          <p:cNvSpPr/>
          <p:nvPr/>
        </p:nvSpPr>
        <p:spPr>
          <a:xfrm>
            <a:off x="762000" y="2082800"/>
            <a:ext cx="7683500" cy="4394200"/>
          </a:xfrm>
          <a:prstGeom prst="rect">
            <a:avLst/>
          </a:prstGeom>
          <a:solidFill>
            <a:srgbClr val="111827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rminal-top"/>
          <p:cNvSpPr/>
          <p:nvPr/>
        </p:nvSpPr>
        <p:spPr>
          <a:xfrm>
            <a:off x="762000" y="2082800"/>
            <a:ext cx="7683500" cy="533400"/>
          </a:xfrm>
          <a:prstGeom prst="rect">
            <a:avLst/>
          </a:prstGeom>
          <a:solidFill>
            <a:srgbClr val="172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rminal-dot-1"/>
          <p:cNvSpPr/>
          <p:nvPr/>
        </p:nvSpPr>
        <p:spPr>
          <a:xfrm>
            <a:off x="1066800" y="2273300"/>
            <a:ext cx="152400" cy="152400"/>
          </a:xfrm>
          <a:prstGeom prst="ellipse">
            <a:avLst/>
          </a:prstGeom>
          <a:solidFill>
            <a:srgbClr val="B38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rminal-dot-2"/>
          <p:cNvSpPr/>
          <p:nvPr/>
        </p:nvSpPr>
        <p:spPr>
          <a:xfrm>
            <a:off x="1346200" y="2273300"/>
            <a:ext cx="152400" cy="1524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rminal-dot-3"/>
          <p:cNvSpPr/>
          <p:nvPr/>
        </p:nvSpPr>
        <p:spPr>
          <a:xfrm>
            <a:off x="1625600" y="2273300"/>
            <a:ext cx="152400" cy="152400"/>
          </a:xfrm>
          <a:prstGeom prst="ellipse">
            <a:avLst/>
          </a:prstGeom>
          <a:solidFill>
            <a:srgbClr val="2E3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rminal-heading"/>
          <p:cNvSpPr/>
          <p:nvPr/>
        </p:nvSpPr>
        <p:spPr>
          <a:xfrm>
            <a:off x="2082800" y="2235200"/>
            <a:ext cx="571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Windows PowerShell • offline RAG</a:t>
            </a:r>
            <a:endParaRPr lang="en-US" sz="1400" dirty="0"/>
          </a:p>
        </p:txBody>
      </p:sp>
      <p:sp>
        <p:nvSpPr>
          <p:cNvPr id="11" name="terminal-command"/>
          <p:cNvSpPr/>
          <p:nvPr/>
        </p:nvSpPr>
        <p:spPr>
          <a:xfrm>
            <a:off x="1117600" y="2997200"/>
            <a:ext cx="69088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offline_rag.py --offline</a:t>
            </a:r>
            <a:endParaRPr lang="en-US" sz="1700" dirty="0"/>
          </a:p>
          <a:p>
            <a:pPr marL="0" indent="0" algn="l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--question "How should the restaurant respond to an allergy-related concern?"</a:t>
            </a:r>
            <a:endParaRPr lang="en-US" sz="1700" dirty="0"/>
          </a:p>
        </p:txBody>
      </p:sp>
      <p:sp>
        <p:nvSpPr>
          <p:cNvPr id="12" name="terminal-divider"/>
          <p:cNvSpPr/>
          <p:nvPr/>
        </p:nvSpPr>
        <p:spPr>
          <a:xfrm>
            <a:off x="1117600" y="4064000"/>
            <a:ext cx="69088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rminal-output"/>
          <p:cNvSpPr/>
          <p:nvPr/>
        </p:nvSpPr>
        <p:spPr>
          <a:xfrm>
            <a:off x="1117600" y="4368800"/>
            <a:ext cx="690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8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Retrieved evidence</a:t>
            </a:r>
            <a:endParaRPr lang="en-US" sz="1400" dirty="0"/>
          </a:p>
          <a:p>
            <a:pPr marL="0" indent="0" algn="l">
              <a:lnSpc>
                <a:spcPts val="1848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[S1] restaurant_playbook.md | relevance=0.76</a:t>
            </a:r>
            <a:endParaRPr lang="en-US" sz="1400" dirty="0"/>
          </a:p>
          <a:p>
            <a:pPr marL="0" indent="0" algn="l">
              <a:lnSpc>
                <a:spcPts val="1848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shift manager must handle the case immediately...</a:t>
            </a:r>
            <a:endParaRPr lang="en-US" sz="1400" dirty="0"/>
          </a:p>
          <a:p>
            <a:pPr marL="0" indent="0" algn="l">
              <a:lnSpc>
                <a:spcPts val="1848"/>
              </a:lnSpc>
              <a:buNone/>
            </a:pPr>
            <a:r>
              <a:rPr lang="en-US" altLang="en-US" sz="14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answer → cite [S1] or abstain</a:t>
            </a:r>
            <a:endParaRPr lang="en-US" sz="1400" dirty="0"/>
          </a:p>
        </p:txBody>
      </p:sp>
      <p:sp>
        <p:nvSpPr>
          <p:cNvPr id="14" name="inspect-kicker"/>
          <p:cNvSpPr/>
          <p:nvPr/>
        </p:nvSpPr>
        <p:spPr>
          <a:xfrm>
            <a:off x="9144000" y="2260600"/>
            <a:ext cx="5588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THREE-STEP INSPECTION ROUTINE</a:t>
            </a:r>
            <a:endParaRPr lang="en-US" sz="1600" dirty="0"/>
          </a:p>
        </p:txBody>
      </p:sp>
      <p:sp>
        <p:nvSpPr>
          <p:cNvPr id="15" name="step-line"/>
          <p:cNvSpPr/>
          <p:nvPr/>
        </p:nvSpPr>
        <p:spPr>
          <a:xfrm>
            <a:off x="9474200" y="2959100"/>
            <a:ext cx="9144" cy="2819400"/>
          </a:xfrm>
          <a:prstGeom prst="line">
            <a:avLst/>
          </a:prstGeom>
          <a:ln w="254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-node-1"/>
          <p:cNvSpPr/>
          <p:nvPr/>
        </p:nvSpPr>
        <p:spPr>
          <a:xfrm>
            <a:off x="9207500" y="2692400"/>
            <a:ext cx="533400" cy="5334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tep-num-1"/>
          <p:cNvSpPr/>
          <p:nvPr/>
        </p:nvSpPr>
        <p:spPr>
          <a:xfrm>
            <a:off x="9207500" y="279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tep-text-1"/>
          <p:cNvSpPr/>
          <p:nvPr/>
        </p:nvSpPr>
        <p:spPr>
          <a:xfrm>
            <a:off x="10033000" y="2717800"/>
            <a:ext cx="4953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retrieved chunks.</a:t>
            </a:r>
            <a:endParaRPr lang="en-US" sz="19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they actually relevant?</a:t>
            </a:r>
            <a:endParaRPr lang="en-US" sz="1900" dirty="0"/>
          </a:p>
        </p:txBody>
      </p:sp>
      <p:sp>
        <p:nvSpPr>
          <p:cNvPr id="19" name="step-node-2"/>
          <p:cNvSpPr/>
          <p:nvPr/>
        </p:nvSpPr>
        <p:spPr>
          <a:xfrm>
            <a:off x="9207500" y="4064000"/>
            <a:ext cx="533400" cy="533400"/>
          </a:xfrm>
          <a:prstGeom prst="ellipse">
            <a:avLst/>
          </a:prstGeom>
          <a:solidFill>
            <a:srgbClr val="B38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tep-num-2"/>
          <p:cNvSpPr/>
          <p:nvPr/>
        </p:nvSpPr>
        <p:spPr>
          <a:xfrm>
            <a:off x="9207500" y="4165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-text-2"/>
          <p:cNvSpPr/>
          <p:nvPr/>
        </p:nvSpPr>
        <p:spPr>
          <a:xfrm>
            <a:off x="10033000" y="4089400"/>
            <a:ext cx="4953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answer against sources.</a:t>
            </a:r>
            <a:endParaRPr lang="en-US" sz="19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every claim have evidence?</a:t>
            </a:r>
            <a:endParaRPr lang="en-US" sz="1900" dirty="0"/>
          </a:p>
        </p:txBody>
      </p:sp>
      <p:sp>
        <p:nvSpPr>
          <p:cNvPr id="22" name="step-node-3"/>
          <p:cNvSpPr/>
          <p:nvPr/>
        </p:nvSpPr>
        <p:spPr>
          <a:xfrm>
            <a:off x="9207500" y="5435600"/>
            <a:ext cx="533400" cy="5334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tep-num-3"/>
          <p:cNvSpPr/>
          <p:nvPr/>
        </p:nvSpPr>
        <p:spPr>
          <a:xfrm>
            <a:off x="9207500" y="5537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tep-text-3"/>
          <p:cNvSpPr/>
          <p:nvPr/>
        </p:nvSpPr>
        <p:spPr>
          <a:xfrm>
            <a:off x="10033000" y="5461000"/>
            <a:ext cx="4953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an unknown question.</a:t>
            </a:r>
            <a:endParaRPr lang="en-US" sz="19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good system must abstain.</a:t>
            </a:r>
            <a:endParaRPr lang="en-US" sz="1900" dirty="0"/>
          </a:p>
        </p:txBody>
      </p:sp>
      <p:sp>
        <p:nvSpPr>
          <p:cNvPr id="25" name="takeaway-strip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takeaway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7239000"/>
            <a:ext cx="381000" cy="381000"/>
          </a:xfrm>
          <a:prstGeom prst="rect">
            <a:avLst/>
          </a:prstGeom>
        </p:spPr>
      </p:pic>
      <p:sp>
        <p:nvSpPr>
          <p:cNvPr id="27" name="takeaway-text"/>
          <p:cNvSpPr/>
          <p:nvPr/>
        </p:nvSpPr>
        <p:spPr>
          <a:xfrm>
            <a:off x="1803400" y="7239000"/>
            <a:ext cx="13182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fluent answer is not enough. Evaluate retrieval, grounding, citations, and abstention.</a:t>
            </a:r>
            <a:endParaRPr lang="en-US" sz="1800" dirty="0"/>
          </a:p>
        </p:txBody>
      </p:sp>
      <p:sp>
        <p:nvSpPr>
          <p:cNvPr id="28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31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Colab Increases Capacity, Not Confidentiality</a:t>
            </a:r>
            <a:endParaRPr lang="en-US" sz="34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enefit-card"/>
          <p:cNvSpPr/>
          <p:nvPr/>
        </p:nvSpPr>
        <p:spPr>
          <a:xfrm>
            <a:off x="762000" y="2159000"/>
            <a:ext cx="4064000" cy="4064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benefi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2603500"/>
            <a:ext cx="558800" cy="558800"/>
          </a:xfrm>
          <a:prstGeom prst="rect">
            <a:avLst/>
          </a:prstGeom>
        </p:spPr>
      </p:pic>
      <p:sp>
        <p:nvSpPr>
          <p:cNvPr id="6" name="benefit-title"/>
          <p:cNvSpPr/>
          <p:nvPr/>
        </p:nvSpPr>
        <p:spPr>
          <a:xfrm>
            <a:off x="1168400" y="3454400"/>
            <a:ext cx="317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capacity changes</a:t>
            </a:r>
            <a:endParaRPr lang="en-US" sz="2200" dirty="0"/>
          </a:p>
        </p:txBody>
      </p:sp>
      <p:sp>
        <p:nvSpPr>
          <p:cNvPr id="7" name="benefit-text"/>
          <p:cNvSpPr/>
          <p:nvPr/>
        </p:nvSpPr>
        <p:spPr>
          <a:xfrm>
            <a:off x="1168400" y="4152900"/>
            <a:ext cx="3048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7B instruct model.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an available GPU.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in 4-bit NF4 form.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richer outputs.</a:t>
            </a:r>
            <a:endParaRPr lang="en-US" sz="1800" dirty="0"/>
          </a:p>
        </p:txBody>
      </p:sp>
      <p:sp>
        <p:nvSpPr>
          <p:cNvPr id="8" name="cloud-card"/>
          <p:cNvSpPr/>
          <p:nvPr/>
        </p:nvSpPr>
        <p:spPr>
          <a:xfrm>
            <a:off x="5842000" y="1905000"/>
            <a:ext cx="4572000" cy="46990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cloud-gpu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2336800"/>
            <a:ext cx="1143000" cy="1143000"/>
          </a:xfrm>
          <a:prstGeom prst="rect">
            <a:avLst/>
          </a:prstGeom>
        </p:spPr>
      </p:pic>
      <p:pic>
        <p:nvPicPr>
          <p:cNvPr id="10" name="gpu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900" y="3568700"/>
            <a:ext cx="584200" cy="584200"/>
          </a:xfrm>
          <a:prstGeom prst="rect">
            <a:avLst/>
          </a:prstGeom>
        </p:spPr>
      </p:pic>
      <p:sp>
        <p:nvSpPr>
          <p:cNvPr id="11" name="cloud-title"/>
          <p:cNvSpPr/>
          <p:nvPr/>
        </p:nvSpPr>
        <p:spPr>
          <a:xfrm>
            <a:off x="6286500" y="44958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Colab GPU</a:t>
            </a:r>
            <a:endParaRPr lang="en-US" sz="2300" dirty="0"/>
          </a:p>
        </p:txBody>
      </p:sp>
      <p:sp>
        <p:nvSpPr>
          <p:cNvPr id="12" name="cloud-model"/>
          <p:cNvSpPr/>
          <p:nvPr/>
        </p:nvSpPr>
        <p:spPr>
          <a:xfrm>
            <a:off x="6286500" y="50927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Qwen2.5 7B Instruct</a:t>
            </a:r>
            <a:endParaRPr lang="en-US" sz="1800" dirty="0"/>
          </a:p>
          <a:p>
            <a:pPr marL="0" indent="0" algn="ctr">
              <a:lnSpc>
                <a:spcPts val="187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4-bit NF4 quantization</a:t>
            </a:r>
            <a:endParaRPr lang="en-US" sz="1800" dirty="0"/>
          </a:p>
        </p:txBody>
      </p:sp>
      <p:sp>
        <p:nvSpPr>
          <p:cNvPr id="13" name="risk-card"/>
          <p:cNvSpPr/>
          <p:nvPr/>
        </p:nvSpPr>
        <p:spPr>
          <a:xfrm>
            <a:off x="11430000" y="2159000"/>
            <a:ext cx="4064000" cy="40640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risk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6400" y="2603500"/>
            <a:ext cx="558800" cy="558800"/>
          </a:xfrm>
          <a:prstGeom prst="rect">
            <a:avLst/>
          </a:prstGeom>
        </p:spPr>
      </p:pic>
      <p:sp>
        <p:nvSpPr>
          <p:cNvPr id="15" name="risk-title"/>
          <p:cNvSpPr/>
          <p:nvPr/>
        </p:nvSpPr>
        <p:spPr>
          <a:xfrm>
            <a:off x="11836400" y="3454400"/>
            <a:ext cx="317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not change</a:t>
            </a:r>
            <a:endParaRPr lang="en-US" sz="2200" dirty="0"/>
          </a:p>
        </p:txBody>
      </p:sp>
      <p:sp>
        <p:nvSpPr>
          <p:cNvPr id="16" name="risk-text"/>
          <p:cNvSpPr/>
          <p:nvPr/>
        </p:nvSpPr>
        <p:spPr>
          <a:xfrm>
            <a:off x="11836400" y="4152900"/>
            <a:ext cx="3048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approval.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quality.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checks.</a:t>
            </a:r>
            <a:endParaRPr lang="en-US" sz="1800" dirty="0"/>
          </a:p>
          <a:p>
            <a:pPr marL="0" indent="0" algn="l">
              <a:lnSpc>
                <a:spcPts val="2412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escalation.</a:t>
            </a:r>
            <a:endParaRPr lang="en-US" sz="1800" dirty="0"/>
          </a:p>
        </p:txBody>
      </p:sp>
      <p:sp>
        <p:nvSpPr>
          <p:cNvPr id="17" name="invariant-strip"/>
          <p:cNvSpPr/>
          <p:nvPr/>
        </p:nvSpPr>
        <p:spPr>
          <a:xfrm>
            <a:off x="762000" y="6985000"/>
            <a:ext cx="14732000" cy="8255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invariant-label"/>
          <p:cNvSpPr/>
          <p:nvPr/>
        </p:nvSpPr>
        <p:spPr>
          <a:xfrm>
            <a:off x="1092200" y="72263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DOES NOT CHANGE:</a:t>
            </a:r>
            <a:endParaRPr lang="en-US" sz="1600" dirty="0"/>
          </a:p>
        </p:txBody>
      </p:sp>
      <p:sp>
        <p:nvSpPr>
          <p:cNvPr id="19" name="invariant-flow"/>
          <p:cNvSpPr/>
          <p:nvPr/>
        </p:nvSpPr>
        <p:spPr>
          <a:xfrm>
            <a:off x="3873500" y="7200900"/>
            <a:ext cx="1092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→ chunk → embed → retrieve → prompt → inspect → evaluate</a:t>
            </a:r>
            <a:endParaRPr lang="en-US" sz="1800" dirty="0"/>
          </a:p>
        </p:txBody>
      </p:sp>
      <p:sp>
        <p:nvSpPr>
          <p:cNvPr id="21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24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 an Opportunity With a Measurable Before-and-After</a:t>
            </a:r>
            <a:endParaRPr lang="en-US" sz="33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peed-card"/>
          <p:cNvSpPr/>
          <p:nvPr/>
        </p:nvSpPr>
        <p:spPr>
          <a:xfrm>
            <a:off x="762000" y="1905000"/>
            <a:ext cx="4572000" cy="21590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speed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235200"/>
            <a:ext cx="482600" cy="482600"/>
          </a:xfrm>
          <a:prstGeom prst="rect">
            <a:avLst/>
          </a:prstGeom>
        </p:spPr>
      </p:pic>
      <p:sp>
        <p:nvSpPr>
          <p:cNvPr id="6" name="speed-title"/>
          <p:cNvSpPr/>
          <p:nvPr/>
        </p:nvSpPr>
        <p:spPr>
          <a:xfrm>
            <a:off x="1854200" y="22860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2200" dirty="0"/>
          </a:p>
        </p:txBody>
      </p:sp>
      <p:sp>
        <p:nvSpPr>
          <p:cNvPr id="7" name="speed-text"/>
          <p:cNvSpPr/>
          <p:nvPr/>
        </p:nvSpPr>
        <p:spPr>
          <a:xfrm>
            <a:off x="1117600" y="2946400"/>
            <a:ext cx="374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quickly does useful work complete?</a:t>
            </a:r>
            <a:endParaRPr lang="en-US" sz="17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Metric: time to correct routing</a:t>
            </a:r>
            <a:endParaRPr lang="en-US" sz="1700" dirty="0"/>
          </a:p>
        </p:txBody>
      </p:sp>
      <p:sp>
        <p:nvSpPr>
          <p:cNvPr id="8" name="accuracy-card"/>
          <p:cNvSpPr/>
          <p:nvPr/>
        </p:nvSpPr>
        <p:spPr>
          <a:xfrm>
            <a:off x="5842000" y="1905000"/>
            <a:ext cx="4572000" cy="21590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accuracy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2235200"/>
            <a:ext cx="482600" cy="482600"/>
          </a:xfrm>
          <a:prstGeom prst="rect">
            <a:avLst/>
          </a:prstGeom>
        </p:spPr>
      </p:pic>
      <p:sp>
        <p:nvSpPr>
          <p:cNvPr id="10" name="accuracy-title"/>
          <p:cNvSpPr/>
          <p:nvPr/>
        </p:nvSpPr>
        <p:spPr>
          <a:xfrm>
            <a:off x="6934200" y="22860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1" name="accuracy-text"/>
          <p:cNvSpPr/>
          <p:nvPr/>
        </p:nvSpPr>
        <p:spPr>
          <a:xfrm>
            <a:off x="6197600" y="2946400"/>
            <a:ext cx="374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often is the result correct or grounded?</a:t>
            </a:r>
            <a:endParaRPr lang="en-US" sz="17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Metric: precision / recall / agreement</a:t>
            </a:r>
            <a:endParaRPr lang="en-US" sz="1700" dirty="0"/>
          </a:p>
        </p:txBody>
      </p:sp>
      <p:sp>
        <p:nvSpPr>
          <p:cNvPr id="12" name="efficiency-card"/>
          <p:cNvSpPr/>
          <p:nvPr/>
        </p:nvSpPr>
        <p:spPr>
          <a:xfrm>
            <a:off x="10922000" y="1905000"/>
            <a:ext cx="4572000" cy="21590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efficiency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00" y="2235200"/>
            <a:ext cx="482600" cy="482600"/>
          </a:xfrm>
          <a:prstGeom prst="rect">
            <a:avLst/>
          </a:prstGeom>
        </p:spPr>
      </p:pic>
      <p:sp>
        <p:nvSpPr>
          <p:cNvPr id="14" name="efficiency-title"/>
          <p:cNvSpPr/>
          <p:nvPr/>
        </p:nvSpPr>
        <p:spPr>
          <a:xfrm>
            <a:off x="12014200" y="2286000"/>
            <a:ext cx="279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15" name="efficiency-text"/>
          <p:cNvSpPr/>
          <p:nvPr/>
        </p:nvSpPr>
        <p:spPr>
          <a:xfrm>
            <a:off x="11277600" y="2946400"/>
            <a:ext cx="374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useful output per unit of effort?</a:t>
            </a:r>
            <a:endParaRPr lang="en-US" sz="17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Metric: staff minutes per case</a:t>
            </a:r>
            <a:endParaRPr lang="en-US" sz="1700" dirty="0"/>
          </a:p>
        </p:txBody>
      </p:sp>
      <p:sp>
        <p:nvSpPr>
          <p:cNvPr id="16" name="canvas-kicker"/>
          <p:cNvSpPr/>
          <p:nvPr/>
        </p:nvSpPr>
        <p:spPr>
          <a:xfrm>
            <a:off x="762000" y="43942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PROCESS-OPPORTUNITY CANVAS</a:t>
            </a:r>
            <a:endParaRPr lang="en-US" sz="1600" dirty="0"/>
          </a:p>
        </p:txBody>
      </p:sp>
      <p:graphicFrame>
        <p:nvGraphicFramePr>
          <p:cNvPr id="17" name="canva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51400"/>
          <a:ext cx="14731998" cy="3048001"/>
        </p:xfrm>
        <a:graphic>
          <a:graphicData uri="http://schemas.openxmlformats.org/drawingml/2006/table">
            <a:tbl>
              <a:tblPr/>
              <a:tblGrid>
                <a:gridCol w="245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5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 + OWNER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TRIGGER + VOLUME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+ ESCALATION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happens now? Who owns the outcome?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starts it? How often?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Decide, classify, find, draft, or execute?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long? How often wrong? How much rework?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does a wrong answer cost? Who could be harmed?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must improve? Which cases stay human?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52400" marB="1524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21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the Simplest Technology That Fits the Job</a:t>
            </a:r>
            <a:endParaRPr lang="en-US" sz="33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nstruction"/>
          <p:cNvSpPr/>
          <p:nvPr/>
        </p:nvSpPr>
        <p:spPr>
          <a:xfrm>
            <a:off x="762000" y="1663700"/>
            <a:ext cx="1409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define the output. Then select the least complex approach that can meet the threshold and the controls.</a:t>
            </a:r>
            <a:endParaRPr lang="en-US" sz="1900" dirty="0"/>
          </a:p>
        </p:txBody>
      </p:sp>
      <p:graphicFrame>
        <p:nvGraphicFramePr>
          <p:cNvPr id="11" name="selection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311400"/>
          <a:ext cx="14732000" cy="5562600"/>
        </p:xfrm>
        <a:graphic>
          <a:graphicData uri="http://schemas.openxmlformats.org/drawingml/2006/table">
            <a:tbl>
              <a:tblPr/>
              <a:tblGrid>
                <a:gridCol w="2823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6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6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NEED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 WITH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 NOT USE IT AS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Stable, explicit policy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Rules / workflow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Conditions and actions are known.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Ambiguous free-text interpretation.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Known labels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Classification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Stable taxonomy + reliable examples.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way to discover unknown themes.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Unknown patterns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Clustering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Exploration, segmentation, taxonomy design.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Unattended final routing.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keyword signals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BoW / TF-IDF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Fast, explainable baseline is needed.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Meaning or context understanding.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evidence-grounded answers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Semantic search / RAG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Answers must cite changing documents.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shortcut around poor evidence.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Flexible language output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B388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Generative AI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Drafting, extraction, synthesis, long tail.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unattended source of truth.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6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Routine cases + exceptions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Hybrid system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Repeatable flow with ambiguity or risk edges.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replacement for process ownership.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C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9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5334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Restaurant Reviews Are Several AI Problems</a:t>
            </a:r>
            <a:endParaRPr lang="en-US" sz="3300" dirty="0"/>
          </a:p>
        </p:txBody>
      </p:sp>
      <p:sp>
        <p:nvSpPr>
          <p:cNvPr id="3" name="title-rule"/>
          <p:cNvSpPr/>
          <p:nvPr/>
        </p:nvSpPr>
        <p:spPr>
          <a:xfrm>
            <a:off x="762000" y="1333500"/>
            <a:ext cx="121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goal"/>
          <p:cNvSpPr/>
          <p:nvPr/>
        </p:nvSpPr>
        <p:spPr>
          <a:xfrm>
            <a:off x="762000" y="1676400"/>
            <a:ext cx="1409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Aim: route reviews, reveal emerging themes, reduce effort, and handle safety-sensitive cases responsibly.</a:t>
            </a:r>
            <a:endParaRPr lang="en-US" sz="1900" dirty="0"/>
          </a:p>
        </p:txBody>
      </p:sp>
      <p:sp>
        <p:nvSpPr>
          <p:cNvPr id="5" name="review-card"/>
          <p:cNvSpPr/>
          <p:nvPr/>
        </p:nvSpPr>
        <p:spPr>
          <a:xfrm>
            <a:off x="2286000" y="2311400"/>
            <a:ext cx="11684000" cy="10414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review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800" y="2578100"/>
            <a:ext cx="457200" cy="457200"/>
          </a:xfrm>
          <a:prstGeom prst="rect">
            <a:avLst/>
          </a:prstGeom>
        </p:spPr>
      </p:pic>
      <p:sp>
        <p:nvSpPr>
          <p:cNvPr id="7" name="review-text"/>
          <p:cNvSpPr/>
          <p:nvPr/>
        </p:nvSpPr>
        <p:spPr>
          <a:xfrm>
            <a:off x="3479800" y="2552700"/>
            <a:ext cx="9982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“Wonderful food, but we waited 45 minutes for the main course.”</a:t>
            </a:r>
            <a:endParaRPr lang="en-US" sz="2000" dirty="0"/>
          </a:p>
        </p:txBody>
      </p:sp>
      <p:sp>
        <p:nvSpPr>
          <p:cNvPr id="8" name="decision-arrow"/>
          <p:cNvSpPr/>
          <p:nvPr/>
        </p:nvSpPr>
        <p:spPr>
          <a:xfrm>
            <a:off x="8128000" y="3352800"/>
            <a:ext cx="9144" cy="558800"/>
          </a:xfrm>
          <a:prstGeom prst="line">
            <a:avLst/>
          </a:prstGeom>
          <a:ln w="25400">
            <a:solidFill>
              <a:srgbClr val="2E3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classification-card"/>
          <p:cNvSpPr/>
          <p:nvPr/>
        </p:nvSpPr>
        <p:spPr>
          <a:xfrm>
            <a:off x="762000" y="4191000"/>
            <a:ext cx="3403600" cy="22225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classification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445000"/>
            <a:ext cx="406400" cy="406400"/>
          </a:xfrm>
          <a:prstGeom prst="rect">
            <a:avLst/>
          </a:prstGeom>
        </p:spPr>
      </p:pic>
      <p:sp>
        <p:nvSpPr>
          <p:cNvPr id="11" name="classification-title"/>
          <p:cNvSpPr/>
          <p:nvPr/>
        </p:nvSpPr>
        <p:spPr>
          <a:xfrm>
            <a:off x="1092200" y="5029200"/>
            <a:ext cx="266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12" name="classification-text"/>
          <p:cNvSpPr/>
          <p:nvPr/>
        </p:nvSpPr>
        <p:spPr>
          <a:xfrm>
            <a:off x="1092200" y="5461000"/>
            <a:ext cx="266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 stable known labels: food positive + waiting time negative.</a:t>
            </a:r>
            <a:endParaRPr lang="en-US" sz="1500" dirty="0"/>
          </a:p>
        </p:txBody>
      </p:sp>
      <p:sp>
        <p:nvSpPr>
          <p:cNvPr id="13" name="clustering-card"/>
          <p:cNvSpPr/>
          <p:nvPr/>
        </p:nvSpPr>
        <p:spPr>
          <a:xfrm>
            <a:off x="4546600" y="4191000"/>
            <a:ext cx="3403600" cy="22225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clustering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4445000"/>
            <a:ext cx="406400" cy="406400"/>
          </a:xfrm>
          <a:prstGeom prst="rect">
            <a:avLst/>
          </a:prstGeom>
        </p:spPr>
      </p:pic>
      <p:sp>
        <p:nvSpPr>
          <p:cNvPr id="15" name="clustering-title"/>
          <p:cNvSpPr/>
          <p:nvPr/>
        </p:nvSpPr>
        <p:spPr>
          <a:xfrm>
            <a:off x="4876800" y="5029200"/>
            <a:ext cx="266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16" name="clustering-text"/>
          <p:cNvSpPr/>
          <p:nvPr/>
        </p:nvSpPr>
        <p:spPr>
          <a:xfrm>
            <a:off x="4876800" y="5461000"/>
            <a:ext cx="266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to discover themes your existing taxonomy misses.</a:t>
            </a:r>
            <a:endParaRPr lang="en-US" sz="1500" dirty="0"/>
          </a:p>
        </p:txBody>
      </p:sp>
      <p:sp>
        <p:nvSpPr>
          <p:cNvPr id="17" name="generative-card"/>
          <p:cNvSpPr/>
          <p:nvPr/>
        </p:nvSpPr>
        <p:spPr>
          <a:xfrm>
            <a:off x="8331200" y="4191000"/>
            <a:ext cx="3403600" cy="2222500"/>
          </a:xfrm>
          <a:prstGeom prst="rect">
            <a:avLst/>
          </a:prstGeom>
          <a:solidFill>
            <a:srgbClr val="172033"/>
          </a:solidFill>
          <a:ln w="254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enerative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400" y="4445000"/>
            <a:ext cx="406400" cy="406400"/>
          </a:xfrm>
          <a:prstGeom prst="rect">
            <a:avLst/>
          </a:prstGeom>
        </p:spPr>
      </p:pic>
      <p:sp>
        <p:nvSpPr>
          <p:cNvPr id="19" name="generative-title"/>
          <p:cNvSpPr/>
          <p:nvPr/>
        </p:nvSpPr>
        <p:spPr>
          <a:xfrm>
            <a:off x="8661400" y="5029200"/>
            <a:ext cx="2667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20" name="generative-text"/>
          <p:cNvSpPr/>
          <p:nvPr/>
        </p:nvSpPr>
        <p:spPr>
          <a:xfrm>
            <a:off x="8661400" y="5461000"/>
            <a:ext cx="266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 long-tail analysis, multi-aspect extraction, or supervised drafts.</a:t>
            </a:r>
            <a:endParaRPr lang="en-US" sz="1500" dirty="0"/>
          </a:p>
        </p:txBody>
      </p:sp>
      <p:sp>
        <p:nvSpPr>
          <p:cNvPr id="21" name="rag-card"/>
          <p:cNvSpPr/>
          <p:nvPr/>
        </p:nvSpPr>
        <p:spPr>
          <a:xfrm>
            <a:off x="12115800" y="4191000"/>
            <a:ext cx="3378200" cy="22225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rag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4445000"/>
            <a:ext cx="406400" cy="406400"/>
          </a:xfrm>
          <a:prstGeom prst="rect">
            <a:avLst/>
          </a:prstGeom>
        </p:spPr>
      </p:pic>
      <p:sp>
        <p:nvSpPr>
          <p:cNvPr id="23" name="rag-title"/>
          <p:cNvSpPr/>
          <p:nvPr/>
        </p:nvSpPr>
        <p:spPr>
          <a:xfrm>
            <a:off x="12446000" y="5029200"/>
            <a:ext cx="2603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+ RAG</a:t>
            </a:r>
            <a:endParaRPr lang="en-US" sz="1800" dirty="0"/>
          </a:p>
        </p:txBody>
      </p:sp>
      <p:sp>
        <p:nvSpPr>
          <p:cNvPr id="24" name="rag-text"/>
          <p:cNvSpPr/>
          <p:nvPr/>
        </p:nvSpPr>
        <p:spPr>
          <a:xfrm>
            <a:off x="12446000" y="5461000"/>
            <a:ext cx="2603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rules for urgent escalation;  RAG for policy-grounded response help.</a:t>
            </a:r>
            <a:endParaRPr lang="en-US" sz="1500" dirty="0"/>
          </a:p>
        </p:txBody>
      </p:sp>
      <p:sp>
        <p:nvSpPr>
          <p:cNvPr id="25" name="hybrid-panel"/>
          <p:cNvSpPr/>
          <p:nvPr/>
        </p:nvSpPr>
        <p:spPr>
          <a:xfrm>
            <a:off x="762000" y="6959600"/>
            <a:ext cx="14732000" cy="9144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hybrid-text"/>
          <p:cNvSpPr/>
          <p:nvPr/>
        </p:nvSpPr>
        <p:spPr>
          <a:xfrm>
            <a:off x="1168400" y="7150100"/>
            <a:ext cx="1391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design: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to discover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humans define taxonomy →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routine cases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escalate risk/uncertainty → use </a:t>
            </a:r>
            <a:r>
              <a:rPr lang="en-US" altLang="en-US" sz="19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+ generative AI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evidence-grounded assistance.</a:t>
            </a:r>
            <a:endParaRPr lang="en-US" sz="1900" dirty="0"/>
          </a:p>
        </p:txBody>
      </p:sp>
      <p:sp>
        <p:nvSpPr>
          <p:cNvPr id="27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30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6096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3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Small. Measure Honestly. Scale Deliberately.</a:t>
            </a:r>
            <a:endParaRPr lang="en-US" sz="3600" dirty="0"/>
          </a:p>
        </p:txBody>
      </p:sp>
      <p:sp>
        <p:nvSpPr>
          <p:cNvPr id="3" name="title-rule"/>
          <p:cNvSpPr/>
          <p:nvPr/>
        </p:nvSpPr>
        <p:spPr>
          <a:xfrm>
            <a:off x="6883400" y="1498600"/>
            <a:ext cx="24892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2540000" y="1841500"/>
            <a:ext cx="1117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priority: speed • accuracy • efficiency ;  then define the guardrail.</a:t>
            </a:r>
            <a:endParaRPr lang="en-US" sz="1700" dirty="0"/>
          </a:p>
        </p:txBody>
      </p:sp>
      <p:sp>
        <p:nvSpPr>
          <p:cNvPr id="5" name="experiment-panel"/>
          <p:cNvSpPr/>
          <p:nvPr/>
        </p:nvSpPr>
        <p:spPr>
          <a:xfrm>
            <a:off x="1270000" y="2311400"/>
            <a:ext cx="13716000" cy="2159000"/>
          </a:xfrm>
          <a:prstGeom prst="rect">
            <a:avLst/>
          </a:prstGeom>
          <a:solidFill>
            <a:srgbClr val="172033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experimen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57500"/>
            <a:ext cx="609600" cy="609600"/>
          </a:xfrm>
          <a:prstGeom prst="rect">
            <a:avLst/>
          </a:prstGeom>
        </p:spPr>
      </p:pic>
      <p:sp>
        <p:nvSpPr>
          <p:cNvPr id="7" name="experiment-label"/>
          <p:cNvSpPr/>
          <p:nvPr/>
        </p:nvSpPr>
        <p:spPr>
          <a:xfrm>
            <a:off x="2870200" y="2667000"/>
            <a:ext cx="1079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FALSIFIABLE 30-DAY EXPERIMENT</a:t>
            </a:r>
            <a:endParaRPr lang="en-US" sz="1600" dirty="0"/>
          </a:p>
        </p:txBody>
      </p:sp>
      <p:sp>
        <p:nvSpPr>
          <p:cNvPr id="8" name="experiment-text"/>
          <p:cNvSpPr/>
          <p:nvPr/>
        </p:nvSpPr>
        <p:spPr>
          <a:xfrm>
            <a:off x="2870200" y="3200400"/>
            <a:ext cx="1079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44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</a:t>
            </a:r>
            <a:r>
              <a:rPr lang="en-US" altLang="en-US" sz="23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[process]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use </a:t>
            </a:r>
            <a:r>
              <a:rPr lang="en-US" altLang="en-US" sz="23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[technology]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move </a:t>
            </a:r>
            <a:r>
              <a:rPr lang="en-US" altLang="en-US" sz="23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[metric]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</a:t>
            </a: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[baseline]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[target]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sending </a:t>
            </a:r>
            <a:r>
              <a:rPr lang="en-US" altLang="en-US" sz="2300" b="1" dirty="0">
                <a:solidFill>
                  <a:srgbClr val="B38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[risk / low-confidence cases]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[human owner]</a:t>
            </a: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300" dirty="0"/>
          </a:p>
        </p:txBody>
      </p:sp>
      <p:sp>
        <p:nvSpPr>
          <p:cNvPr id="9" name="measure-card"/>
          <p:cNvSpPr/>
          <p:nvPr/>
        </p:nvSpPr>
        <p:spPr>
          <a:xfrm>
            <a:off x="2159000" y="5181600"/>
            <a:ext cx="3429000" cy="14224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measure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5461000"/>
            <a:ext cx="406400" cy="406400"/>
          </a:xfrm>
          <a:prstGeom prst="rect">
            <a:avLst/>
          </a:prstGeom>
        </p:spPr>
      </p:pic>
      <p:sp>
        <p:nvSpPr>
          <p:cNvPr id="11" name="measure-text"/>
          <p:cNvSpPr/>
          <p:nvPr/>
        </p:nvSpPr>
        <p:spPr>
          <a:xfrm>
            <a:off x="3073400" y="54102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7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+ target</a:t>
            </a:r>
            <a:endParaRPr lang="en-US" sz="1700" dirty="0"/>
          </a:p>
        </p:txBody>
      </p:sp>
      <p:sp>
        <p:nvSpPr>
          <p:cNvPr id="12" name="evaluate-card"/>
          <p:cNvSpPr/>
          <p:nvPr/>
        </p:nvSpPr>
        <p:spPr>
          <a:xfrm>
            <a:off x="6413500" y="5181600"/>
            <a:ext cx="3429000" cy="14224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evaluat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0" y="5461000"/>
            <a:ext cx="406400" cy="406400"/>
          </a:xfrm>
          <a:prstGeom prst="rect">
            <a:avLst/>
          </a:prstGeom>
        </p:spPr>
      </p:pic>
      <p:sp>
        <p:nvSpPr>
          <p:cNvPr id="14" name="evaluate-text"/>
          <p:cNvSpPr/>
          <p:nvPr/>
        </p:nvSpPr>
        <p:spPr>
          <a:xfrm>
            <a:off x="7327900" y="54102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endParaRPr lang="en-US" sz="17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+ unknown cases</a:t>
            </a:r>
            <a:endParaRPr lang="en-US" sz="1700" dirty="0"/>
          </a:p>
        </p:txBody>
      </p:sp>
      <p:sp>
        <p:nvSpPr>
          <p:cNvPr id="15" name="escalate-card"/>
          <p:cNvSpPr/>
          <p:nvPr/>
        </p:nvSpPr>
        <p:spPr>
          <a:xfrm>
            <a:off x="10668000" y="5181600"/>
            <a:ext cx="3429000" cy="1422400"/>
          </a:xfrm>
          <a:prstGeom prst="rect">
            <a:avLst/>
          </a:prstGeom>
          <a:solidFill>
            <a:srgbClr val="172033"/>
          </a:solidFill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escalate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500" y="5461000"/>
            <a:ext cx="406400" cy="406400"/>
          </a:xfrm>
          <a:prstGeom prst="rect">
            <a:avLst/>
          </a:prstGeom>
        </p:spPr>
      </p:pic>
      <p:sp>
        <p:nvSpPr>
          <p:cNvPr id="17" name="escalate-text"/>
          <p:cNvSpPr/>
          <p:nvPr/>
        </p:nvSpPr>
        <p:spPr>
          <a:xfrm>
            <a:off x="11582400" y="54102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5"/>
              </a:lnSpc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</a:t>
            </a:r>
            <a:endParaRPr lang="en-US" sz="17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+ uncertainty</a:t>
            </a:r>
            <a:endParaRPr lang="en-US" sz="1700" dirty="0"/>
          </a:p>
        </p:txBody>
      </p:sp>
      <p:sp>
        <p:nvSpPr>
          <p:cNvPr id="18" name="sources-heading"/>
          <p:cNvSpPr/>
          <p:nvPr/>
        </p:nvSpPr>
        <p:spPr>
          <a:xfrm>
            <a:off x="762000" y="7061200"/>
            <a:ext cx="147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SOURCES</a:t>
            </a:r>
            <a:endParaRPr lang="en-US" sz="1200" dirty="0"/>
          </a:p>
        </p:txBody>
      </p:sp>
      <p:sp>
        <p:nvSpPr>
          <p:cNvPr id="19" name="sources-text"/>
          <p:cNvSpPr/>
          <p:nvPr/>
        </p:nvSpPr>
        <p:spPr>
          <a:xfrm>
            <a:off x="1270000" y="7366000"/>
            <a:ext cx="1371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Ollama Windows • ollama.com/download/windows   |   [2] Hugging Face Semantic Search • huggingface.co/learn/llm-course/en/chapter5/6   |   [3] Hugging Face Model Cards • huggingface.co/docs/hub/en/model-cards   |   [4] Hugging Face bitsandbytes • huggingface.co/docs/transformers/quantization/bitsandbytes</a:t>
            </a:r>
            <a:endParaRPr lang="en-US" sz="1200" dirty="0"/>
          </a:p>
        </p:txBody>
      </p:sp>
      <p:sp>
        <p:nvSpPr>
          <p:cNvPr id="20" name="footer-dot"/>
          <p:cNvSpPr/>
          <p:nvPr/>
        </p:nvSpPr>
        <p:spPr>
          <a:xfrm>
            <a:off x="762000" y="8661400"/>
            <a:ext cx="127000" cy="127000"/>
          </a:xfrm>
          <a:prstGeom prst="ellipse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footer-line"/>
          <p:cNvSpPr/>
          <p:nvPr/>
        </p:nvSpPr>
        <p:spPr>
          <a:xfrm>
            <a:off x="952500" y="8724900"/>
            <a:ext cx="736600" cy="9144"/>
          </a:xfrm>
          <a:prstGeom prst="line">
            <a:avLst/>
          </a:prstGeom>
          <a:ln w="12700">
            <a:solidFill>
              <a:srgbClr val="2E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ooter-label"/>
          <p:cNvSpPr/>
          <p:nvPr/>
        </p:nvSpPr>
        <p:spPr>
          <a:xfrm>
            <a:off x="1841500" y="8585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RITUAL • LOCAL RAG WORKSHOP</a:t>
            </a:r>
            <a:endParaRPr lang="en-US" sz="1200" dirty="0"/>
          </a:p>
        </p:txBody>
      </p:sp>
      <p:sp>
        <p:nvSpPr>
          <p:cNvPr id="23" name="slide-number"/>
          <p:cNvSpPr/>
          <p:nvPr/>
        </p:nvSpPr>
        <p:spPr>
          <a:xfrm>
            <a:off x="14732000" y="8585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1433</Words>
  <Application>Microsoft Office PowerPoint</Application>
  <PresentationFormat>Custom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</vt:lpstr>
      <vt:lpstr>Arial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Local RAG. Choose AI That Improves Work.</dc:title>
  <dc:subject>Build Local RAG. Choose AI That Improves Work.</dc:subject>
  <dc:creator>Manus</dc:creator>
  <cp:lastModifiedBy>francis elhelou</cp:lastModifiedBy>
  <cp:revision>2</cp:revision>
  <dcterms:created xsi:type="dcterms:W3CDTF">2026-09-06T15:48:45Z</dcterms:created>
  <dcterms:modified xsi:type="dcterms:W3CDTF">2026-09-14T06:15:05Z</dcterms:modified>
</cp:coreProperties>
</file>